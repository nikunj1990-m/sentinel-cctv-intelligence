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0" y="1371600"/>
            <a:ext cx="2286000" cy="2286000"/>
          </a:xfrm>
          <a:prstGeom prst="roundRect">
            <a:avLst/>
          </a:prstGeom>
          <a:solidFill>
            <a:srgbClr val="0B111C"/>
          </a:solidFill>
          <a:ln w="1905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417320"/>
            <a:ext cx="2286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0" b="0" i="0">
                <a:solidFill>
                  <a:srgbClr val="25D8F0"/>
                </a:solidFill>
                <a:latin typeface="Segoe UI"/>
              </a:rPr>
              <a:t>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9476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1" i="0">
                <a:solidFill>
                  <a:srgbClr val="EAF1FA"/>
                </a:solidFill>
                <a:latin typeface="Segoe UI"/>
              </a:rP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006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25D8F0"/>
                </a:solidFill>
                <a:latin typeface="Segoe UI"/>
              </a:rPr>
              <a:t>Unified CCTV Intelligence for Gujarat Police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492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1">
                <a:solidFill>
                  <a:srgbClr val="93A9C2"/>
                </a:solidFill>
                <a:latin typeface="Segoe UI"/>
              </a:rPr>
              <a:t>Turning the 80,000 cameras Gujarat already owns into one real-time public-safety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Project Author:  Nikunj Rameshbhai Maheshwari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Primary Model: Hybrid (Model 1 + 3 + 4)  ·  Gujarat Police Innovation Hackathon 2026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AF1FA"/>
                </a:solidFill>
                <a:latin typeface="Segoe UI"/>
              </a:rPr>
              <a:t>80,000 cameras. 5 departments. Zero coordination.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201168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26663" y="2103120"/>
            <a:ext cx="201168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26663" y="224028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6663" y="3200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Police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4648" y="2103120"/>
            <a:ext cx="201168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648" y="224028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3200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GSRTC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1" y="2103120"/>
            <a:ext cx="201168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224028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3200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Panchayat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0615" y="2103120"/>
            <a:ext cx="201168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0615" y="224028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615" y="3200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Municipal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EAF1FA"/>
                </a:solidFill>
                <a:latin typeface="Segoe UI"/>
              </a:rPr>
              <a:t>Isolated silos.  No unified view.  No automatic alerts.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93A9C2"/>
                </a:solidFill>
                <a:latin typeface="Segoe UI"/>
              </a:rPr>
              <a:t>A stolen vehicle or a wanted person passes a camera — and we find out only later, after manually reviewing footage.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BEYOND POINT-ANPR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F1FA"/>
                </a:solidFill>
                <a:latin typeface="Segoe UI"/>
              </a:rPr>
              <a:t>Not another plate-reader — a city-wide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74519"/>
            <a:ext cx="5120640" cy="3931920"/>
          </a:xfrm>
          <a:prstGeom prst="roundRect">
            <a:avLst/>
          </a:prstGeom>
          <a:solidFill>
            <a:srgbClr val="39121E"/>
          </a:solidFill>
          <a:ln w="12700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3B5C"/>
                </a:solidFill>
                <a:latin typeface="Segoe UI"/>
              </a:rPr>
              <a:t>EXISTING BORDER ANPR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4572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Dedicated ANPR cameras only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Fixed chokepoints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Reads number plates only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Isolated, single-point logs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Hardware-locked, expensive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120640" cy="393192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5D8F0"/>
                </a:solidFill>
                <a:latin typeface="Segoe UI"/>
              </a:rPr>
              <a:t>SENTINEL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560320"/>
            <a:ext cx="4572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Works on ANY existing camera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Whole network, all departments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Plates + faces + any scene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Cross-camera route tracking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Natural-language video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F1FA"/>
                </a:solidFill>
                <a:latin typeface="Segoe UI"/>
              </a:rPr>
              <a:t>One platform. Three layers. Edge-first.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65960"/>
            <a:ext cx="2103120" cy="11430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B8CFF"/>
                </a:solidFill>
                <a:latin typeface="Segoe UI"/>
              </a:rPr>
              <a:t>MODEL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AF1FA"/>
                </a:solidFill>
                <a:latin typeface="Segoe UI"/>
              </a:rPr>
              <a:t>CCTV Registry + GIS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03120"/>
            <a:ext cx="8046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93A9C2"/>
                </a:solidFill>
                <a:latin typeface="Segoe UI"/>
              </a:rPr>
              <a:t>Mandatory foundation — unified camera inventory on a live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91839"/>
            <a:ext cx="2103120" cy="11430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8999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5D8F0"/>
                </a:solidFill>
                <a:latin typeface="Segoe UI"/>
              </a:rPr>
              <a:t>MODEL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79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AF1FA"/>
                </a:solidFill>
                <a:latin typeface="Segoe UI"/>
              </a:rPr>
              <a:t>VMS Federation + Middleware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28999"/>
            <a:ext cx="8046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93A9C2"/>
                </a:solidFill>
                <a:latin typeface="Segoe UI"/>
              </a:rPr>
              <a:t>Connect any existing camera without disrupting departments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617720"/>
            <a:ext cx="2103120" cy="11430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AD477"/>
                </a:solidFill>
                <a:latin typeface="Segoe UI"/>
              </a:rPr>
              <a:t>MODEL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66359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AF1FA"/>
                </a:solidFill>
                <a:latin typeface="Segoe UI"/>
              </a:rPr>
              <a:t>Central AI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54880"/>
            <a:ext cx="8046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93A9C2"/>
                </a:solidFill>
                <a:latin typeface="Segoe UI"/>
              </a:rPr>
              <a:t>Analytics, alerts, cross-camera tracking, language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806440"/>
            <a:ext cx="10424160" cy="64008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0644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5B638"/>
                </a:solidFill>
                <a:latin typeface="Segoe UI"/>
              </a:rPr>
              <a:t>★  Core principle:  Process at the edge — centralise only intelligence, never bulk video.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F1FA"/>
                </a:solidFill>
                <a:latin typeface="Segoe UI"/>
              </a:rPr>
              <a:t>How it works — from camera to command centre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196596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EAF1FA"/>
                </a:solidFill>
                <a:latin typeface="Segoe UI"/>
              </a:rPr>
              <a:t>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Existing CCTV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multi-vendor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2888" y="2898648"/>
            <a:ext cx="329184" cy="329184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98648" y="2286000"/>
            <a:ext cx="196596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246888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EAF1FA"/>
                </a:solidFill>
                <a:latin typeface="Segoe U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3063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Edge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429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OpenVINO / iGPU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2896" y="2898648"/>
            <a:ext cx="329184" cy="329184"/>
          </a:xfrm>
          <a:prstGeom prst="rightArrow">
            <a:avLst/>
          </a:prstGeom>
          <a:solidFill>
            <a:srgbClr val="F5B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48656" y="2286000"/>
            <a:ext cx="196596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246888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EAF1FA"/>
                </a:solidFill>
                <a:latin typeface="Segoe UI"/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3063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MQTT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3429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metadata only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32904" y="2898648"/>
            <a:ext cx="329184" cy="329184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98664" y="2286000"/>
            <a:ext cx="196596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246888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EAF1FA"/>
                </a:solidFill>
                <a:latin typeface="Segoe UI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3063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Central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4" y="3429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correlate + DBs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582912" y="2898648"/>
            <a:ext cx="329184" cy="329184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48672" y="2286000"/>
            <a:ext cx="196596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246888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EAF1FA"/>
                </a:solidFill>
                <a:latin typeface="Segoe UI"/>
              </a:rPr>
              <a:t>🗺️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3063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3429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GIS + alerts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4343400"/>
            <a:ext cx="7772400" cy="68580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4343400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5B638"/>
                </a:solidFill>
                <a:latin typeface="Segoe UI"/>
              </a:rPr>
              <a:t>Only lightweight alerts + metadata reach the centre — NEVER bulk video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93A9C2"/>
                </a:solidFill>
                <a:latin typeface="Segoe UI"/>
              </a:rPr>
              <a:t>Correlated in real time with  VAHAN · SARTHI · eGujCop / CCTNS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KEY FEATURES · BUILT &amp;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F1FA"/>
                </a:solidFill>
                <a:latin typeface="Segoe UI"/>
              </a:rPr>
              <a:t>A complete, multi-modal policing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ANPR + Stolen-vehicle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OCR-tolerant fuzzy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1920240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9584" y="20574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6060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Face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31089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Wanted / missing persons (eGujCop)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920240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0574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6060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Cross-camera route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1089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Reconstruct a target's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1920240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20574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6060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Natural-language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1089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"red SUV near Sector 18"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49039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862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Real-time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37759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Lightweight MQTT backbone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9584" y="3749039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38862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Camera registry +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4937759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Live status, CSV onboarding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3749039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38862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🛡️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RBAC + 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937759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DPDP-aligned governance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34272" y="3749039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4272" y="38862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Edge AI, no GPU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4937759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Runs on commodity hardware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F1FA"/>
                </a:solidFill>
                <a:latin typeface="Segoe UI"/>
              </a:rPr>
              <a:t>See it working — camera to alert in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260604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60219" y="2331720"/>
            <a:ext cx="640080" cy="640080"/>
          </a:xfrm>
          <a:prstGeom prst="ellipse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111C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Vehicle passes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3A9C2"/>
                </a:solidFill>
                <a:latin typeface="Segoe UI"/>
              </a:rPr>
              <a:t>Plate detected &amp; read on the live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2103120"/>
            <a:ext cx="260604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12564" y="2331720"/>
            <a:ext cx="640080" cy="640080"/>
          </a:xfrm>
          <a:prstGeom prst="ellipse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111C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Matched to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37947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3A9C2"/>
                </a:solidFill>
                <a:latin typeface="Segoe UI"/>
              </a:rPr>
              <a:t>Checked against stolen-vehicle watchlist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103120"/>
            <a:ext cx="260604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4908" y="2331720"/>
            <a:ext cx="640080" cy="640080"/>
          </a:xfrm>
          <a:prstGeom prst="ellipse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111C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Instant RED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7947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3A9C2"/>
                </a:solidFill>
                <a:latin typeface="Segoe UI"/>
              </a:rPr>
              <a:t>Raised on the live GIS map in real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2103120"/>
            <a:ext cx="260604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17252" y="2331720"/>
            <a:ext cx="640080" cy="640080"/>
          </a:xfrm>
          <a:prstGeom prst="ellipse">
            <a:avLst/>
          </a:prstGeom>
          <a:solidFill>
            <a:srgbClr val="F5B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111C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Route reconstructed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7947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3A9C2"/>
                </a:solidFill>
                <a:latin typeface="Segoe UI"/>
              </a:rPr>
              <a:t>Vehicle's path drawn across all cameras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07040" cy="128016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AD477"/>
                </a:solidFill>
                <a:latin typeface="Segoe UI"/>
              </a:rPr>
              <a:t>Plus:  face recognition alerts  ·  natural-language video search  ·  predictive next-camera + drone 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1">
                <a:solidFill>
                  <a:srgbClr val="93A9C2"/>
                </a:solidFill>
                <a:latin typeface="Segoe UI"/>
              </a:rPr>
              <a:t>All validated live on a standard laptop with an Intel integrated GPU — no dedicated GPU required.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THE SCALE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F1FA"/>
                </a:solidFill>
                <a:latin typeface="Segoe UI"/>
              </a:rPr>
              <a:t>Why Sentinel reaches 80,000 cameras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448056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4480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FF3B5C"/>
                </a:solidFill>
                <a:latin typeface="Segoe UI"/>
              </a:rPr>
              <a:t>160 Gbps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93A9C2"/>
                </a:solidFill>
                <a:latin typeface="Segoe UI"/>
              </a:rPr>
              <a:t>Centralising all video — impossible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15000" y="2971800"/>
            <a:ext cx="777240" cy="457200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29400" y="2011680"/>
            <a:ext cx="448056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331720"/>
            <a:ext cx="4480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2AD477"/>
                </a:solidFill>
                <a:latin typeface="Segoe UI"/>
              </a:rPr>
              <a:t>≈ 10 Gbps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47472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93A9C2"/>
                </a:solidFill>
                <a:latin typeface="Segoe UI"/>
              </a:rPr>
              <a:t>Edge processing — 15× less, feasible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09160"/>
            <a:ext cx="10012680" cy="128016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46320"/>
            <a:ext cx="9829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5D8F0"/>
                </a:solidFill>
                <a:latin typeface="Segoe UI"/>
              </a:rPr>
              <a:t>Process at the edge · send only metadata · run on ordinary Intel 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94960"/>
            <a:ext cx="9829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15–50× lower bandwidth · central storage cut from petabytes to a fraction · no GPU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COST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F1FA"/>
                </a:solidFill>
                <a:latin typeface="Segoe UI"/>
              </a:rPr>
              <a:t>Measurable benefits at state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965960"/>
            <a:ext cx="4480560" cy="18288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 i="0">
                <a:solidFill>
                  <a:srgbClr val="FF3B5C"/>
                </a:solidFill>
                <a:latin typeface="Segoe UI"/>
              </a:rPr>
              <a:t>₹120 Cr / yr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Commercial per-camera licensing (indicative)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15000" y="2606040"/>
            <a:ext cx="777240" cy="457200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29400" y="1965960"/>
            <a:ext cx="4480560" cy="18288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2402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 i="0">
                <a:solidFill>
                  <a:srgbClr val="2AD477"/>
                </a:solidFill>
                <a:latin typeface="Segoe UI"/>
              </a:rPr>
              <a:t>₹0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0632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Sentinel licensing — open-source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069080"/>
            <a:ext cx="3200400" cy="18288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5D8F0"/>
                </a:solidFill>
                <a:latin typeface="Segoe UI"/>
              </a:rPr>
              <a:t>~1–2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749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detection-to-alert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(vs hours of manual review)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4069080"/>
            <a:ext cx="3200400" cy="18288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42976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5D8F0"/>
                </a:solidFill>
                <a:latin typeface="Segoe UI"/>
              </a:rPr>
              <a:t>80,000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50749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existing cameras activated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as intelligent sensors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4069080"/>
            <a:ext cx="3200400" cy="18288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42976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5D8F0"/>
                </a:solidFill>
                <a:latin typeface="Segoe UI"/>
              </a:rP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50749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new hardware —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reuses existing cameras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F1FA"/>
                </a:solidFill>
                <a:latin typeface="Segoe UI"/>
              </a:rPr>
              <a:t>Government-grade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2606040" cy="2743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0" i="0">
                <a:solidFill>
                  <a:srgbClr val="25D8F0"/>
                </a:solidFill>
                <a:latin typeface="Segoe UI"/>
              </a:rP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Role-Based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Admin / operator roles; every route and API gated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2103120"/>
            <a:ext cx="2606040" cy="2743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9584" y="23317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0" i="0">
                <a:solidFill>
                  <a:srgbClr val="25D8F0"/>
                </a:solidFill>
                <a:latin typeface="Segoe UI"/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31089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Full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365760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Every login, action and dispatch logged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103120"/>
            <a:ext cx="2606040" cy="2743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3317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0" i="0">
                <a:solidFill>
                  <a:srgbClr val="25D8F0"/>
                </a:solidFill>
                <a:latin typeface="Segoe UI"/>
              </a:rP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1089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DPDP Act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65760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Purpose-limited, retention-bound, access-controlled PII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2103120"/>
            <a:ext cx="2606040" cy="2743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23317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0" i="0">
                <a:solidFill>
                  <a:srgbClr val="25D8F0"/>
                </a:solidFill>
                <a:latin typeface="Segoe UI"/>
              </a:rPr>
              <a:t>🛰️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1089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Secure &amp; Isolated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65760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TLS transport, tamper detection, department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1">
                <a:solidFill>
                  <a:srgbClr val="93A9C2"/>
                </a:solidFill>
                <a:latin typeface="Segoe UI"/>
              </a:rPr>
              <a:t>Cameras stay in their department networks — Sentinel federates with least-privilege, read-only access.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TECHNOLOGY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F1FA"/>
                </a:solidFill>
                <a:latin typeface="Segoe UI"/>
              </a:rPr>
              <a:t>Production-credible stack — easy camera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5212080" cy="3840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5D8F0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7548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AI/Edge:  Intel OpenVINO · YOLOv8 · fast-plate-ocr · InsightFace · CLIP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Data:  PostgreSQL + PostGIS · Qdrant (vector DB)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Backbone:  MQTT (Mosquitto) · MediaMTX · FFmpeg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App:  FastAPI · Leaflet GIS · Docker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20240"/>
            <a:ext cx="5212080" cy="3840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AD477"/>
                </a:solidFill>
                <a:latin typeface="Segoe UI"/>
              </a:rPr>
              <a:t>CAMERA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7548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IP cameras — Easy: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Drop-in via RTSP / ONVIF. Point the gateway at the URL.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Analog cameras — via DVR: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Use the DVR/NVR RTSP output, or an analog-to-IP encoder.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Everything normalises to one RTSP URL per camera — exactly the hackathon feed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ROADMAP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F1FA"/>
                </a:solidFill>
                <a:latin typeface="Segoe UI"/>
              </a:rPr>
              <a:t>From working prototype to statewide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429000" cy="20116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B8CFF"/>
                </a:solidFill>
                <a:latin typeface="Segoe UI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EAF1FA"/>
                </a:solidFill>
                <a:latin typeface="Segoe UI"/>
              </a:rPr>
              <a:t>1 district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Registry + GIS, ANPR + face, validate on real cameras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24527" y="2743200"/>
            <a:ext cx="146304" cy="292608"/>
          </a:xfrm>
          <a:prstGeom prst="rightArrow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20116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5D8F0"/>
                </a:solidFill>
                <a:latin typeface="Segoe UI"/>
              </a:rPr>
              <a:t>REGIONAL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1460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EAF1FA"/>
                </a:solidFill>
                <a:latin typeface="Segoe UI"/>
              </a:rPr>
              <a:t>1 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718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HA/DR, live VAHAN &amp; eGujCop, production SSO + audit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36408" y="2743200"/>
            <a:ext cx="146304" cy="292608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3429000" cy="20116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05740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AD477"/>
                </a:solidFill>
                <a:latin typeface="Segoe UI"/>
              </a:rPr>
              <a:t>STATEWIDE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1460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EAF1FA"/>
                </a:solidFill>
                <a:latin typeface="Segoe UI"/>
              </a:rPr>
              <a:t>~80,000 cams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9718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Edge fleet, language search, IoT sensor fusion, SOC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34340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5D8F0"/>
                </a:solidFill>
                <a:latin typeface="Segoe UI"/>
              </a:rPr>
              <a:t>Protect What Matters.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EAF1FA"/>
                </a:solidFill>
                <a:latin typeface="Segoe UI"/>
              </a:rPr>
              <a:t>Sentinel — built on the cameras Gujarat already owns.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93A9C2"/>
                </a:solidFill>
                <a:latin typeface="Segoe UI"/>
              </a:rPr>
              <a:t>Project Author:  Nikunj Rameshbhai Maheshwari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