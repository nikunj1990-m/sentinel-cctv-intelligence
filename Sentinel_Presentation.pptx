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0" r:id="rId21"/>
    <p:sldId id="268" r:id="rId19"/>
    <p:sldId id="271" r:id="rId22"/>
    <p:sldId id="269" r:id="rId20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9.xml"/><Relationship Id="rId20" Type="http://schemas.openxmlformats.org/officeDocument/2006/relationships/slide" Target="slides/slide11.xml"/><Relationship Id="rId21" Type="http://schemas.openxmlformats.org/officeDocument/2006/relationships/slide" Target="slides/slide8.xml"/><Relationship Id="rId22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1371600"/>
            <a:ext cx="2286000" cy="2286000"/>
          </a:xfrm>
          <a:prstGeom prst="roundRect">
            <a:avLst/>
          </a:prstGeom>
          <a:solidFill>
            <a:srgbClr val="0B111C"/>
          </a:solidFill>
          <a:ln w="1905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417320"/>
            <a:ext cx="2286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0" b="0" i="0">
                <a:solidFill>
                  <a:srgbClr val="25D8F0"/>
                </a:solidFill>
                <a:latin typeface="Segoe UI"/>
              </a:rPr>
              <a:t>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9476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EAF1FA"/>
                </a:solidFill>
                <a:latin typeface="Segoe UI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006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25D8F0"/>
                </a:solidFill>
                <a:latin typeface="Segoe UI"/>
              </a:rPr>
              <a:t>Unified CCTV Intelligence for Gujarat Police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3492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1">
                <a:solidFill>
                  <a:srgbClr val="93A9C2"/>
                </a:solidFill>
                <a:latin typeface="Segoe UI"/>
              </a:rPr>
              <a:t>Turning the 80,000 cameras Gujarat already owns into one real-time public-safety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Team:  Nikunj Maheshwari  ·  Dhurvi Thakkar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Primary Model: Hybrid (Model 1 + 3 + 4)  ·  Gujarat Police Innovation Hackathon 2026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AF1FA"/>
                </a:solidFill>
                <a:latin typeface="Segoe UI"/>
              </a:rPr>
              <a:t>80,000 cameras. 5 departments. Zero coordination.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26663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3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3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Police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648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GSRTC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1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1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1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Panchayat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0615" y="2103120"/>
            <a:ext cx="201168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0615" y="224028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2B8CFF"/>
                </a:solidFill>
                <a:latin typeface="Segoe UI"/>
              </a:rPr>
              <a:t>📷 📷 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5" y="3200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Municipal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EAF1FA"/>
                </a:solidFill>
                <a:latin typeface="Segoe UI"/>
              </a:rPr>
              <a:t>Isolated silos.  No unified view.  No automatic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A stolen vehicle or a wanted person passes a camera — and we find out only later, after manually reviewing footage.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BEYOND POINT-ANPR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Not another plate-reader — a city-wide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74519"/>
            <a:ext cx="5120640" cy="3931920"/>
          </a:xfrm>
          <a:prstGeom prst="roundRect">
            <a:avLst/>
          </a:prstGeom>
          <a:solidFill>
            <a:srgbClr val="39121E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3B5C"/>
                </a:solidFill>
                <a:latin typeface="Segoe UI"/>
              </a:rPr>
              <a:t>EXISTING BORDER ANPR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Dedicated ANPR cameras only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Fixed chokepoints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Reads number plates only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Isolated, single-point logs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Hardware-locked, expensive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120640" cy="393192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D8F0"/>
                </a:solidFill>
                <a:latin typeface="Segoe UI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60320"/>
            <a:ext cx="45720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Works on ANY existing camera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Whole network, all departments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Plates + faces + any scene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Cross-camera route tracking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EAF1FA"/>
                </a:solidFill>
                <a:latin typeface="Segoe UI"/>
              </a:rPr>
              <a:t>•  Natural-language video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One platform. Three layers. Edge-first.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965960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B8CFF"/>
                </a:solidFill>
                <a:latin typeface="Segoe UI"/>
              </a:rPr>
              <a:t>MODEL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CCTV Registry + 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0312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Mandatory foundation — unified camera inventory on a live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91839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28999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5D8F0"/>
                </a:solidFill>
                <a:latin typeface="Segoe UI"/>
              </a:rPr>
              <a:t>MODEL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79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VMS Federation + 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28999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Connect any existing camera without disrupting departments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617720"/>
            <a:ext cx="2103120" cy="11430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AD477"/>
                </a:solidFill>
                <a:latin typeface="Segoe UI"/>
              </a:rPr>
              <a:t>MODEL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59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AF1FA"/>
                </a:solidFill>
                <a:latin typeface="Segoe UI"/>
              </a:rPr>
              <a:t>Central AI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54880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Analytics, alerts, cross-camera tracking, language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806440"/>
            <a:ext cx="10424160" cy="64008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5B638"/>
                </a:solidFill>
                <a:latin typeface="Segoe UI"/>
              </a:rPr>
              <a:t>★  Core principle:  Process at the edge — centralise only intelligence, never bulk video.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How it works — from camera to command centre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Existing CCTV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multi-vendor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2888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98648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Edge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OpenVINO / iGPU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2896" y="2898648"/>
            <a:ext cx="329184" cy="329184"/>
          </a:xfrm>
          <a:prstGeom prst="rightArrow">
            <a:avLst/>
          </a:prstGeom>
          <a:solidFill>
            <a:srgbClr val="F5B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48656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MQTT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metadata only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32904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98664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4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Central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4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correlate + DBs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82912" y="2898648"/>
            <a:ext cx="329184" cy="329184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48672" y="2286000"/>
            <a:ext cx="1965960" cy="1554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246888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EAF1FA"/>
                </a:solidFill>
                <a:latin typeface="Segoe UI"/>
              </a:rPr>
              <a:t>🗺️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06324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3429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93A9C2"/>
                </a:solidFill>
                <a:latin typeface="Segoe UI"/>
              </a:rPr>
              <a:t>GIS +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4343400"/>
            <a:ext cx="7772400" cy="68580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343400"/>
            <a:ext cx="7772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F5B638"/>
                </a:solidFill>
                <a:latin typeface="Segoe UI"/>
              </a:rPr>
              <a:t>Only lightweight alerts + metadata reach the centre — NEVER bulk video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93A9C2"/>
                </a:solidFill>
                <a:latin typeface="Segoe UI"/>
              </a:rPr>
              <a:t>Correlated in real time with  VAHAN · SARTHI · eGujCop / CCTNS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KEY FEATURES · BUILT &amp;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A complete, multi-modal policing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ANPR + Stolen-vehicle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OCR-tolerant fuzzy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Face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Wanted / missing persons (eGujCop)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Cross-camera route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Reconstruct a target's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1920240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0574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6060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Natural-language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1089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"red SUV near Sector 18"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Real-time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Lightweight MQTT backbone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Camera registry +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Live status, CSV onboarding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RBAC +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DPDP-aligned governance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4272" y="3749039"/>
            <a:ext cx="2606040" cy="1600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3886200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25D8F0"/>
                </a:solidFill>
                <a:latin typeface="Segoe UI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4434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EAF1FA"/>
                </a:solidFill>
                <a:latin typeface="Segoe UI"/>
              </a:rPr>
              <a:t>Edge AI, no GPU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937759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93A9C2"/>
                </a:solidFill>
                <a:latin typeface="Segoe UI"/>
              </a:rPr>
              <a:t>Runs on commodity hardware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See it working — camera to alert in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60219" y="2331720"/>
            <a:ext cx="640080" cy="640080"/>
          </a:xfrm>
          <a:prstGeom prst="ellipse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Vehicle passes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Plate detected &amp; read on the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12564" y="2331720"/>
            <a:ext cx="640080" cy="640080"/>
          </a:xfrm>
          <a:prstGeom prst="ellipse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Matched to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Checked against stolen-vehicle watchlist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4908" y="2331720"/>
            <a:ext cx="640080" cy="640080"/>
          </a:xfrm>
          <a:prstGeom prst="ellipse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Instant RED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Raised on the live GIS map in real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2103120"/>
            <a:ext cx="260604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17252" y="2331720"/>
            <a:ext cx="640080" cy="640080"/>
          </a:xfrm>
          <a:prstGeom prst="ellipse">
            <a:avLst/>
          </a:prstGeom>
          <a:solidFill>
            <a:srgbClr val="F5B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B111C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315468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Route reconstructed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79476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93A9C2"/>
                </a:solidFill>
                <a:latin typeface="Segoe UI"/>
              </a:rPr>
              <a:t>Vehicle's path drawn across all cameras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54880"/>
            <a:ext cx="10607040" cy="12801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AD477"/>
                </a:solidFill>
                <a:latin typeface="Segoe UI"/>
              </a:rPr>
              <a:t>Plus:  face recognition alerts  ·  natural-language video search  ·  predictive next-camera + drone dispatch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1">
                <a:solidFill>
                  <a:srgbClr val="93A9C2"/>
                </a:solidFill>
                <a:latin typeface="Segoe UI"/>
              </a:rPr>
              <a:t>All validated live on a standard laptop with an Intel integrated GPU — no dedicated GPU required.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D8F0"/>
                </a:solidFill>
                <a:latin typeface="Segoe UI"/>
              </a:rPr>
              <a:t>WANTED PERSON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AF1FA"/>
                </a:solidFill>
                <a:latin typeface="Segoe UI"/>
              </a:rPr>
              <a:t>Every face on camera, checked against the wanted &amp; missing 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74519"/>
            <a:ext cx="5120640" cy="393192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3B5C"/>
                </a:solidFill>
                <a:latin typeface="Segoe UI"/>
              </a:rPr>
              <a:t>FACE WATCHLIST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19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EAF1FA"/>
                </a:solidFill>
                <a:latin typeface="Segoe UI"/>
              </a:rPr>
              <a:t>•  Every detected face is embedded and matched in real time against eGujCop wanted / missing-persons records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AF1FA"/>
                </a:solidFill>
                <a:latin typeface="Segoe UI"/>
              </a:rPr>
              <a:t>•  Works on angled, partial or low-light faces using InsightFace embeddings + vector similarity search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AF1FA"/>
                </a:solidFill>
                <a:latin typeface="Segoe UI"/>
              </a:rPr>
              <a:t>•  Configurable match threshold balances recall against false positives for field use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EAF1FA"/>
                </a:solidFill>
                <a:latin typeface="Segoe UI"/>
              </a:rPr>
              <a:t>•  Instant alert with match confidence, camera ID and timestamp — same MQTT alert backbone as ANPR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120640" cy="393192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ace_clea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155" y="2011679"/>
            <a:ext cx="4412728" cy="323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5294999"/>
            <a:ext cx="5120640" cy="37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5D8F0"/>
                </a:solidFill>
                <a:latin typeface="Segoe UI"/>
              </a:rPr>
              <a:t>Live capture: webcam feed → instant “HIT” on a registered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31408"/>
            <a:ext cx="10424160" cy="3657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9314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B638"/>
                </a:solidFill>
                <a:latin typeface="Segoe UI"/>
              </a:rPr>
              <a:t>★  Demonstrated live on an ordinary webcam — deployable on any existing camera the same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9C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D8F0"/>
                </a:solidFill>
                <a:latin typeface="Segoe UI"/>
              </a:rPr>
              <a:t>PREDICTIVE POLICING &amp; AUTONOMOUS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AF1FA"/>
                </a:solidFill>
                <a:latin typeface="Segoe UI"/>
              </a:rPr>
              <a:t>From last-seen to intercepted — before it arrives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74519"/>
            <a:ext cx="5120640" cy="393192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D8F0"/>
                </a:solidFill>
                <a:latin typeface="Segoe UI"/>
              </a:rPr>
              <a:t>PREDICTIVE NEXT-CAMERA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60319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AF1FA"/>
                </a:solidFill>
                <a:latin typeface="Segoe UI"/>
              </a:rPr>
              <a:t>•  Scores every camera in range by direction + distance from the vehicle's last sighting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score = 0.6 × bearing alignment + 0.4 × proximity  (haversine distance + compass bearing)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Predicted camera and ETA appear instantly on the live map — an amber marker + dotted path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No manual guesswork: patrol units know exactly where to look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120640" cy="393192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573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D477"/>
                </a:solidFill>
                <a:latin typeface="Segoe UI"/>
              </a:rPr>
              <a:t>AUTONOMOUS DRONE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560319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AF1FA"/>
                </a:solidFill>
                <a:latin typeface="Segoe UI"/>
              </a:rPr>
              <a:t>•  One click on any alert dispatches a drone toward the interception point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Simulated flight path animates in real time, with a live trailing route on the map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Status panel shows next waypoint, live ETA and a one-click recall</a:t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/>
            </a:r>
          </a:p>
          <a:p>
            <a:r>
              <a:rPr sz="1500">
                <a:solidFill>
                  <a:srgbClr val="EAF1FA"/>
                </a:solidFill>
                <a:latin typeface="Segoe UI"/>
              </a:rPr>
              <a:t>•  Integration-ready for real hardware via MAVLink / DJI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931408"/>
            <a:ext cx="10424160" cy="3657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93140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B638"/>
                </a:solidFill>
                <a:latin typeface="Segoe UI"/>
              </a:rPr>
              <a:t>★  Sentinel doesn't just alert — it predicts where the target is going, and can act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9C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D8F0"/>
                </a:solidFill>
                <a:latin typeface="Segoe UI"/>
              </a:rPr>
              <a:t>AUTONOMOUS DRONE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AF1FA"/>
                </a:solidFill>
                <a:latin typeface="Segoe UI"/>
              </a:rPr>
              <a:t>From alert to interception — a drone in the loop, not just a camera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9507" y="2194560"/>
            <a:ext cx="1783080" cy="1691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9507" y="23317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3B5C"/>
                </a:solidFill>
                <a:latin typeface="Segoe UI"/>
              </a:rPr>
              <a:t>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0947" y="29260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EAF1FA"/>
                </a:solidFill>
                <a:latin typeface="Segoe UI"/>
              </a:rPr>
              <a:t>Alert Triggered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947" y="3383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3A9C2"/>
                </a:solidFill>
                <a:latin typeface="Segoe UI"/>
              </a:rPr>
              <a:t>Stolen vehicle / wanted person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72587" y="2948940"/>
            <a:ext cx="274320" cy="18288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46907" y="2194560"/>
            <a:ext cx="1783080" cy="1691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46907" y="23317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5B638"/>
                </a:solidFill>
                <a:latin typeface="Segoe UI"/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29260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EAF1FA"/>
                </a:solidFill>
                <a:latin typeface="Segoe UI"/>
              </a:rPr>
              <a:t>Next Camera Predicted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347" y="3383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3A9C2"/>
                </a:solidFill>
                <a:latin typeface="Segoe UI"/>
              </a:rPr>
              <a:t>Bearing + distance scoring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29987" y="2948940"/>
            <a:ext cx="274320" cy="18288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04307" y="2194560"/>
            <a:ext cx="1783080" cy="1691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4307" y="23317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AD477"/>
                </a:solidFill>
                <a:latin typeface="Segoe UI"/>
              </a:rPr>
              <a:t>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5747" y="29260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EAF1FA"/>
                </a:solidFill>
                <a:latin typeface="Segoe UI"/>
              </a:rPr>
              <a:t>Drone Dispatched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5747" y="3383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3A9C2"/>
                </a:solidFill>
                <a:latin typeface="Segoe UI"/>
              </a:rPr>
              <a:t>One click from the alert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87387" y="2948940"/>
            <a:ext cx="274320" cy="18288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1707" y="2194560"/>
            <a:ext cx="1783080" cy="1691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1707" y="23317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B8CFF"/>
                </a:solidFill>
                <a:latin typeface="Segoe UI"/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3147" y="29260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EAF1FA"/>
                </a:solidFill>
                <a:latin typeface="Segoe UI"/>
              </a:rPr>
              <a:t>Live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3147" y="3383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3A9C2"/>
                </a:solidFill>
                <a:latin typeface="Segoe UI"/>
              </a:rPr>
              <a:t>ETA, waypoint, trailing route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44787" y="2948940"/>
            <a:ext cx="274320" cy="18288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19107" y="2194560"/>
            <a:ext cx="1783080" cy="1691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9107" y="233172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5D8F0"/>
                </a:solidFill>
                <a:latin typeface="Segoe UI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0547" y="29260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EAF1FA"/>
                </a:solidFill>
                <a:latin typeface="Segoe UI"/>
              </a:rPr>
              <a:t>Interception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0547" y="33832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93A9C2"/>
                </a:solidFill>
                <a:latin typeface="Segoe UI"/>
              </a:rPr>
              <a:t>Ground units guided 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06240"/>
            <a:ext cx="10424160" cy="10058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343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EAF1FA"/>
                </a:solidFill>
                <a:latin typeface="Segoe UI"/>
              </a:rPr>
              <a:t>•  Animated flight path with a live trailing route and a status panel (next waypoint, ETA, one-click recall)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EAF1FA"/>
                </a:solidFill>
                <a:latin typeface="Segoe UI"/>
              </a:rPr>
              <a:t>•  Fully simulated today on the same map used for ANPR and face alerts — integration-ready for real hardware via MAVLink / DJI SDK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440680"/>
            <a:ext cx="10424160" cy="3657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F5B6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B638"/>
                </a:solidFill>
                <a:latin typeface="Segoe UI"/>
              </a:rPr>
              <a:t>★  Same pipeline, faster response: detect → predict → dispatch → intercept, in seconds.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9C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D8F0"/>
                </a:solidFill>
                <a:latin typeface="Segoe UI"/>
              </a:rPr>
              <a:t>PRODUCT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AF1FA"/>
                </a:solidFill>
                <a:latin typeface="Segoe UI"/>
              </a:rPr>
              <a:t>Real screens, real detections — captured from the running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261888" y="1628328"/>
            <a:ext cx="4754864" cy="3579864"/>
          </a:xfrm>
          <a:prstGeom prst="rect">
            <a:avLst/>
          </a:prstGeom>
          <a:noFill/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44768" y="1628328"/>
            <a:ext cx="4754864" cy="3579864"/>
          </a:xfrm>
          <a:prstGeom prst="rect">
            <a:avLst/>
          </a:prstGeom>
          <a:noFill/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s_rou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20" y="1655760"/>
            <a:ext cx="4700000" cy="3525000"/>
          </a:xfrm>
          <a:prstGeom prst="rect">
            <a:avLst/>
          </a:prstGeom>
        </p:spPr>
      </p:pic>
      <p:pic>
        <p:nvPicPr>
          <p:cNvPr id="7" name="Picture 6" descr="predict_dron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55760"/>
            <a:ext cx="4700000" cy="352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9320" y="5272200"/>
            <a:ext cx="4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D8F0"/>
                </a:solidFill>
                <a:latin typeface="Segoe UI"/>
              </a:rPr>
              <a:t>Cross-camera alert + automatic route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272200"/>
            <a:ext cx="47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D8F0"/>
                </a:solidFill>
                <a:latin typeface="Segoe UI"/>
              </a:rPr>
              <a:t>Predictive next-camera + one-click drone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775120"/>
            <a:ext cx="10424160" cy="54864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751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AD477"/>
                </a:solidFill>
                <a:latin typeface="Segoe UI"/>
              </a:rPr>
              <a:t>Also live on the same dashboard: natural-language video search across every camera, and a full camera registry with live health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3A9C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THE SCALE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Why Sentinel reaches 80,000 cameras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448056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FF3B5C"/>
                </a:solidFill>
                <a:latin typeface="Segoe UI"/>
              </a:rPr>
              <a:t>160 Gbps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3A9C2"/>
                </a:solidFill>
                <a:latin typeface="Segoe UI"/>
              </a:rPr>
              <a:t>Centralising all video — impossible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971800"/>
            <a:ext cx="777240" cy="45720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29400" y="2011680"/>
            <a:ext cx="4480560" cy="237744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2AD477"/>
                </a:solidFill>
                <a:latin typeface="Segoe UI"/>
              </a:rPr>
              <a:t>≈ 10 Gbps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4747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93A9C2"/>
                </a:solidFill>
                <a:latin typeface="Segoe UI"/>
              </a:rPr>
              <a:t>Edge processing — 15× less, feasible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09160"/>
            <a:ext cx="10012680" cy="1280160"/>
          </a:xfrm>
          <a:prstGeom prst="roundRect">
            <a:avLst/>
          </a:prstGeom>
          <a:solidFill>
            <a:srgbClr val="182C4C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846320"/>
            <a:ext cx="9829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5D8F0"/>
                </a:solidFill>
                <a:latin typeface="Segoe UI"/>
              </a:rPr>
              <a:t>Process at the edge · send only metadata · run on ordinary Intel 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394960"/>
            <a:ext cx="9829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15–50× lower bandwidth · central storage cut from petabytes to a fraction · no GPU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COST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Measurable benefits at state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965960"/>
            <a:ext cx="448056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F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FF3B5C"/>
                </a:solidFill>
                <a:latin typeface="Segoe UI"/>
              </a:rPr>
              <a:t>₹120 Cr / 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Commercial per-camera licensing (indicative)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606040"/>
            <a:ext cx="777240" cy="457200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29400" y="1965960"/>
            <a:ext cx="448056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200" b="1" i="0">
                <a:solidFill>
                  <a:srgbClr val="2AD477"/>
                </a:solidFill>
                <a:latin typeface="Segoe UI"/>
              </a:rPr>
              <a:t>₹0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Sentinel licensing — open-source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~1–2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detection-to-alert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(vs hours of manual 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80,000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existing cameras activated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as intelligent sensors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069080"/>
            <a:ext cx="3200400" cy="18288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0416" y="42976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5D8F0"/>
                </a:solidFill>
                <a:latin typeface="Segoe UI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50749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new hardware —</a:t>
            </a:r>
          </a:p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93A9C2"/>
                </a:solidFill>
                <a:latin typeface="Segoe UI"/>
              </a:rPr>
              <a:t>reuses existing cameras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AF1FA"/>
                </a:solidFill>
                <a:latin typeface="Segoe UI"/>
              </a:rPr>
              <a:t>Government-grade by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Admin / operator roles; every route and API gated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9584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Every login, action and dispatch logged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DPDP Act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Purpose-limited, retention-bound, access-controlled PII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2103120"/>
            <a:ext cx="2606040" cy="274320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233172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0" i="0">
                <a:solidFill>
                  <a:srgbClr val="25D8F0"/>
                </a:solidFill>
                <a:latin typeface="Segoe UI"/>
              </a:rPr>
              <a:t>🛰️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10896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EAF1FA"/>
                </a:solidFill>
                <a:latin typeface="Segoe UI"/>
              </a:rPr>
              <a:t>Secure &amp; Isolated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65760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TLS transport, tamper detection, department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1">
                <a:solidFill>
                  <a:srgbClr val="93A9C2"/>
                </a:solidFill>
                <a:latin typeface="Segoe UI"/>
              </a:rPr>
              <a:t>Cameras stay in their department networks — Sentinel federates with least-privilege, read-only access.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TECHNOLOGY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Production-credible stack — easy camera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212080" cy="3840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5D8F0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AI/Edge:  Intel OpenVINO · YOLOv8 · fast-plate-ocr · InsightFace · CLIP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Data:  PostgreSQL + PostGIS · Qdrant (vector DB)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Backbone:  MQTT (Mosquitto) · MediaMTX · FFmpeg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App:  FastAPI · Leaflet GIS · 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212080" cy="38404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18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AD477"/>
                </a:solidFill>
                <a:latin typeface="Segoe UI"/>
              </a:rPr>
              <a:t>CAMERA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IP cameras — Easy: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Drop-in via RTSP / ONVIF. Point the gateway at the URL.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Analog cameras — via DVR: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Use the DVR/NVR RTSP output, or an analog-to-IP encoder.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F1FA"/>
                </a:solidFill>
                <a:latin typeface="Segoe UI"/>
              </a:rPr>
              <a:t>Everything normalises to one RTSP URL per camera — exactly the hackathon feed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SENTINEL  ·  Gujarat Police Innovation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3A9C2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5D8F0"/>
                </a:solidFill>
                <a:latin typeface="Segoe UI"/>
              </a:rPr>
              <a:t>ROADMAP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AF1FA"/>
                </a:solidFill>
                <a:latin typeface="Segoe UI"/>
              </a:rPr>
              <a:t>From working prototype to statewide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B8CFF"/>
                </a:solidFill>
                <a:latin typeface="Segoe U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1 district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Registry + GIS, ANPR + face, validate on real cameras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24527" y="2743200"/>
            <a:ext cx="146304" cy="292608"/>
          </a:xfrm>
          <a:prstGeom prst="rightArrow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5D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5D8F0"/>
                </a:solidFill>
                <a:latin typeface="Segoe UI"/>
              </a:rPr>
              <a:t>REGIONAL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1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HA/DR, live VAHAN &amp; eGujCop, production SSO + audit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36408" y="2743200"/>
            <a:ext cx="146304" cy="292608"/>
          </a:xfrm>
          <a:prstGeom prst="rightArrow">
            <a:avLst/>
          </a:prstGeom>
          <a:solidFill>
            <a:srgbClr val="25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874519"/>
            <a:ext cx="3429000" cy="2011680"/>
          </a:xfrm>
          <a:prstGeom prst="roundRect">
            <a:avLst/>
          </a:prstGeom>
          <a:solidFill>
            <a:srgbClr val="14223A"/>
          </a:solidFill>
          <a:ln w="12700">
            <a:solidFill>
              <a:srgbClr val="2AD4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05740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AD477"/>
                </a:solidFill>
                <a:latin typeface="Segoe UI"/>
              </a:rPr>
              <a:t>STATEWIDE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14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EAF1FA"/>
                </a:solidFill>
                <a:latin typeface="Segoe UI"/>
              </a:rPr>
              <a:t>~80,000 cams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718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93A9C2"/>
                </a:solidFill>
                <a:latin typeface="Segoe UI"/>
              </a:rPr>
              <a:t>Edge fleet, language search, IoT sensor fusion, 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34340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5D8F0"/>
                </a:solidFill>
                <a:latin typeface="Segoe UI"/>
              </a:rPr>
              <a:t>Protect What Matters.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EAF1FA"/>
                </a:solidFill>
                <a:latin typeface="Segoe UI"/>
              </a:rPr>
              <a:t>Sentinel — built on the cameras Gujarat already owns.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93A9C2"/>
                </a:solidFill>
                <a:latin typeface="Segoe UI"/>
              </a:rPr>
              <a:t>Team:  Nikunj Maheshwari  ·  Dhurvi Thakkar</a:t>
            </a:r>
          </a:p>
        </p:txBody>
      </p:sp>
    </p:spTree>
  </p:cSld>
  <p:clrMapOvr>
    <a:masterClrMapping/>
  </p:clrMapOvr>
  <p:transition xmlns:p14="http://schemas.microsoft.com/office/powerpoint/2010/main" spd="med" p14:dur="9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